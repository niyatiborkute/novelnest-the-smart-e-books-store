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3" r:id="rId2"/>
    <p:sldId id="257" r:id="rId3"/>
    <p:sldId id="262" r:id="rId4"/>
    <p:sldId id="263" r:id="rId5"/>
    <p:sldId id="272" r:id="rId6"/>
    <p:sldId id="271" r:id="rId7"/>
    <p:sldId id="270" r:id="rId8"/>
    <p:sldId id="265" r:id="rId9"/>
    <p:sldId id="269" r:id="rId10"/>
    <p:sldId id="268" r:id="rId11"/>
    <p:sldId id="276" r:id="rId12"/>
    <p:sldId id="274" r:id="rId13"/>
    <p:sldId id="275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63190-FDEE-4B1E-8A80-35C2771395C7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0F06E-899C-49BA-A94B-9C03A0656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3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ghrce@raisoni.net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9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5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7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4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41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5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:\Documents and Settings\user\My Documents\GHRCE logos\Changed Logo\GHRCE, Nagpur Logo .png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786" y="236150"/>
            <a:ext cx="2062480" cy="81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671251" y="6120228"/>
            <a:ext cx="7016133" cy="487388"/>
          </a:xfrm>
          <a:prstGeom prst="rect">
            <a:avLst/>
          </a:prstGeom>
        </p:spPr>
      </p:pic>
      <p:sp>
        <p:nvSpPr>
          <p:cNvPr id="10" name="Text Box 3"/>
          <p:cNvSpPr txBox="1"/>
          <p:nvPr userDrawn="1"/>
        </p:nvSpPr>
        <p:spPr>
          <a:xfrm>
            <a:off x="1080822" y="132520"/>
            <a:ext cx="8487247" cy="111318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300" normalizeH="0" baseline="0" noProof="0" dirty="0">
                <a:ln>
                  <a:noFill/>
                </a:ln>
                <a:solidFill>
                  <a:srgbClr val="ED6E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G H Raisoni College of Engineering </a:t>
            </a:r>
            <a:endParaRPr kumimoji="0" lang="en-US" sz="20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Empowered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Auto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omo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u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s</a:t>
            </a:r>
            <a:r>
              <a:rPr kumimoji="0" lang="en-US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sti</a:t>
            </a:r>
            <a:r>
              <a:rPr kumimoji="0" lang="en-US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u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te</a:t>
            </a:r>
            <a:r>
              <a:rPr kumimoji="0" lang="en-US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ff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ili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d</a:t>
            </a:r>
            <a:r>
              <a:rPr kumimoji="0" lang="en-US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o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s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h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tr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s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</a:t>
            </a:r>
            <a:r>
              <a:rPr kumimoji="0" lang="en-US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u</a:t>
            </a:r>
            <a:r>
              <a:rPr kumimoji="0" lang="en-US" sz="11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k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do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j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</a:t>
            </a:r>
            <a:r>
              <a:rPr kumimoji="0" lang="en-US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M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h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j</a:t>
            </a:r>
            <a:r>
              <a:rPr kumimoji="0" lang="en-US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gpur</a:t>
            </a:r>
            <a:r>
              <a:rPr kumimoji="0" lang="en-US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Un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ve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rsit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y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,</a:t>
            </a:r>
            <a:r>
              <a:rPr kumimoji="0" lang="en-US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g</a:t>
            </a:r>
            <a:r>
              <a:rPr kumimoji="0" lang="en-US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p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u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Accredited by NAAC with “A++” Grade (3</a:t>
            </a:r>
            <a:r>
              <a:rPr kumimoji="0" lang="en-US" sz="110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Cycle)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C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PF</a:t>
            </a:r>
            <a:r>
              <a:rPr kumimoji="0" lang="en-US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G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te</a:t>
            </a:r>
            <a:r>
              <a:rPr kumimoji="0" lang="en-US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o.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3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, Hi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g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o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d,</a:t>
            </a:r>
            <a:r>
              <a:rPr kumimoji="0" lang="en-US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igd</a:t>
            </a:r>
            <a:r>
              <a:rPr kumimoji="0" lang="en-US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o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h</a:t>
            </a:r>
            <a:r>
              <a:rPr kumimoji="0" lang="en-US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Hill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,</a:t>
            </a:r>
            <a:r>
              <a:rPr kumimoji="0" lang="en-US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g</a:t>
            </a:r>
            <a:r>
              <a:rPr kumimoji="0" lang="en-US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p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u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–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4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4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0</a:t>
            </a:r>
            <a:r>
              <a:rPr kumimoji="0" lang="en-US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0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1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6</a:t>
            </a:r>
            <a:r>
              <a:rPr kumimoji="0" lang="en-US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(</a:t>
            </a:r>
            <a:r>
              <a:rPr kumimoji="0" lang="en-US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IA)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:</a:t>
            </a:r>
            <a:r>
              <a:rPr kumimoji="0" lang="en-US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+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9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1 9604787184, 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9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68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9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9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0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3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2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8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6, 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99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2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1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0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0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8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391</a:t>
            </a:r>
            <a:r>
              <a:rPr kumimoji="0" lang="en-US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|</a:t>
            </a:r>
            <a:r>
              <a:rPr kumimoji="0" lang="en-US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:</a:t>
            </a:r>
            <a:r>
              <a:rPr kumimoji="0" lang="en-US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pri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c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ip</a:t>
            </a:r>
            <a:r>
              <a:rPr kumimoji="0" lang="en-US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l.g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h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rc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e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@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r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is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o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i.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n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  <a:hlinkClick r:id="rId4"/>
              </a:rPr>
              <a:t>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|</a:t>
            </a:r>
            <a:r>
              <a:rPr kumimoji="0" lang="en-US" sz="11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W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:</a:t>
            </a:r>
            <a:r>
              <a:rPr kumimoji="0" lang="en-US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ghr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c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e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.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r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iso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i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.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n</a:t>
            </a:r>
            <a:r>
              <a:rPr kumimoji="0" lang="en-US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60087"/>
                </a:solidFill>
                <a:effectLst/>
                <a:uLnTx/>
                <a:uFillTx/>
                <a:latin typeface="Red Hat Display" panose="02010303040201060303" pitchFamily="2" charset="0"/>
                <a:ea typeface="Tahoma" panose="020B0604030504040204" pitchFamily="34" charset="0"/>
              </a:rPr>
              <a:t>Department of Electronics  and  Telecommunication  Engineering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59026" y="1391478"/>
            <a:ext cx="11873948" cy="13251"/>
          </a:xfrm>
          <a:prstGeom prst="line">
            <a:avLst/>
          </a:prstGeom>
          <a:ln>
            <a:solidFill>
              <a:srgbClr val="66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69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2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6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4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2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3BD3-DA57-4162-9762-D795CBA0389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D58C5-A631-4D92-8862-0AD9D8FA0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8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tel:+917972269828" TargetMode="External"/><Relationship Id="rId2" Type="http://schemas.openxmlformats.org/officeDocument/2006/relationships/hyperlink" Target="mailto:info@babhaleinfotech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157065" y="1433015"/>
            <a:ext cx="11877869" cy="64629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1" i="0" u="none" strike="noStrike" cap="none" dirty="0">
                <a:solidFill>
                  <a:srgbClr val="C75E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</a:t>
            </a:r>
            <a:r>
              <a:rPr lang="en-US" sz="1800" b="1" dirty="0">
                <a:solidFill>
                  <a:srgbClr val="C75E31"/>
                </a:solidFill>
              </a:rPr>
              <a:t> Project Seminar</a:t>
            </a:r>
            <a:endParaRPr sz="1800" b="1" dirty="0">
              <a:solidFill>
                <a:srgbClr val="C75E3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rgbClr val="C75E31"/>
                </a:solidFill>
              </a:rPr>
              <a:t>Summer</a:t>
            </a:r>
            <a:r>
              <a:rPr lang="en-US" sz="1800" b="1" dirty="0">
                <a:solidFill>
                  <a:srgbClr val="C75E31"/>
                </a:solidFill>
              </a:rPr>
              <a:t> 2025 (Session: 2024-2025)</a:t>
            </a: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287000" y="4388525"/>
            <a:ext cx="49596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D067F-4707-A515-7E99-EB1307E70F76}"/>
              </a:ext>
            </a:extLst>
          </p:cNvPr>
          <p:cNvSpPr txBox="1"/>
          <p:nvPr/>
        </p:nvSpPr>
        <p:spPr>
          <a:xfrm>
            <a:off x="688001" y="2118241"/>
            <a:ext cx="106503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Company:- </a:t>
            </a:r>
          </a:p>
          <a:p>
            <a:pPr algn="ctr"/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</a:rPr>
              <a:t>Babhale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 Infotech Solutions LLP</a:t>
            </a:r>
          </a:p>
          <a:p>
            <a:pPr algn="ctr"/>
            <a:r>
              <a:rPr lang="en-IN" sz="2000" b="1" dirty="0"/>
              <a:t>Title of the Project:-  </a:t>
            </a:r>
          </a:p>
          <a:p>
            <a:pPr algn="ctr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Novelnest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:A smart E-Book store portal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/>
            <a:endParaRPr lang="en-IN" dirty="0"/>
          </a:p>
          <a:p>
            <a:pPr algn="ctr"/>
            <a:r>
              <a:rPr lang="en-IN" sz="2000" b="1" dirty="0"/>
              <a:t>Presentation By :-</a:t>
            </a:r>
          </a:p>
          <a:p>
            <a:pPr marL="3044825"/>
            <a:r>
              <a:rPr lang="en-IN" sz="1800" dirty="0"/>
              <a:t>	</a:t>
            </a:r>
          </a:p>
          <a:p>
            <a:pPr marL="3044825"/>
            <a:endParaRPr lang="en-IN" sz="1800" b="1" dirty="0"/>
          </a:p>
          <a:p>
            <a:pPr marL="3044825"/>
            <a:endParaRPr lang="en-IN" sz="1800" b="1" dirty="0"/>
          </a:p>
          <a:p>
            <a:pPr marL="3044825"/>
            <a:endParaRPr lang="en-IN" sz="1800" b="1" dirty="0"/>
          </a:p>
          <a:p>
            <a:pPr marL="3044825"/>
            <a:endParaRPr lang="en-IN" sz="1800" b="1" dirty="0"/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Guide:-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Sagar Singh Rathore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139386-6DBE-3316-2F1A-BAD3C4DE9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603873"/>
              </p:ext>
            </p:extLst>
          </p:nvPr>
        </p:nvGraphicFramePr>
        <p:xfrm>
          <a:off x="3533351" y="4005925"/>
          <a:ext cx="4959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5563">
                  <a:extLst>
                    <a:ext uri="{9D8B030D-6E8A-4147-A177-3AD203B41FA5}">
                      <a16:colId xmlns:a16="http://schemas.microsoft.com/office/drawing/2014/main" val="3948012744"/>
                    </a:ext>
                  </a:extLst>
                </a:gridCol>
                <a:gridCol w="2484037">
                  <a:extLst>
                    <a:ext uri="{9D8B030D-6E8A-4147-A177-3AD203B41FA5}">
                      <a16:colId xmlns:a16="http://schemas.microsoft.com/office/drawing/2014/main" val="292270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/>
                        <a:t>Student Name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Roll No.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77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Niyati </a:t>
                      </a:r>
                      <a:r>
                        <a:rPr lang="en-GB" sz="1800" dirty="0" err="1"/>
                        <a:t>Borkute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09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0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Pooja </a:t>
                      </a:r>
                      <a:r>
                        <a:rPr lang="en-GB" sz="1800" dirty="0" err="1"/>
                        <a:t>Badwaik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10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909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Prashant Hatwar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42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8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Saikiran Gannewar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50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341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053" y="1482883"/>
            <a:ext cx="11563893" cy="341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Overview: </a:t>
            </a:r>
            <a:r>
              <a:rPr lang="en-US" sz="2000" b="1" i="0" dirty="0" err="1">
                <a:effectLst/>
                <a:latin typeface="ui-sans-serif"/>
              </a:rPr>
              <a:t>Babhale</a:t>
            </a:r>
            <a:r>
              <a:rPr lang="en-US" sz="2000" b="1" i="0" dirty="0">
                <a:effectLst/>
                <a:latin typeface="ui-sans-serif"/>
              </a:rPr>
              <a:t> Infotech Solutions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ui-sans-serif"/>
              </a:rPr>
              <a:t> </a:t>
            </a:r>
            <a:endParaRPr lang="en-US" sz="2000" dirty="0">
              <a:solidFill>
                <a:srgbClr val="374151"/>
              </a:solidFill>
              <a:latin typeface="ui-sans-serif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pecialize in providing top-notch IT resourcing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omprehensive IT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nnovative product development solutions.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Location: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1st Floor, Plot No. 10/4, STPI IT Park, Gayatri Nagar, Nagpur – 440022</a:t>
            </a:r>
            <a:endParaRPr lang="en-US" dirty="0">
              <a:solidFill>
                <a:srgbClr val="FFFFFF"/>
              </a:solidFill>
              <a:latin typeface="ui-sans-serif"/>
            </a:endParaRPr>
          </a:p>
          <a:p>
            <a:pPr algn="l"/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 Info </a:t>
            </a:r>
            <a:r>
              <a:rPr lang="en-US" b="1" i="0" dirty="0">
                <a:solidFill>
                  <a:srgbClr val="002060"/>
                </a:solidFill>
                <a:effectLst/>
                <a:latin typeface="ui-sans-serif"/>
              </a:rPr>
              <a:t>: 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  <a:hlinkClick r:id="rId2"/>
              </a:rPr>
              <a:t>info@babhableinfotech.com</a:t>
            </a:r>
            <a:endParaRPr lang="en-US" b="0" i="0" dirty="0">
              <a:solidFill>
                <a:srgbClr val="FFFFFF"/>
              </a:solidFill>
              <a:effectLst/>
              <a:latin typeface="ui-sans-serif"/>
            </a:endParaRP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ui-sans-serif"/>
                <a:hlinkClick r:id="rId3"/>
              </a:rPr>
              <a:t>+91-79722-69828</a:t>
            </a:r>
            <a:endParaRPr lang="en-US" b="0" i="0" dirty="0">
              <a:solidFill>
                <a:srgbClr val="FFFFFF"/>
              </a:solidFill>
              <a:effectLst/>
              <a:latin typeface="ui-sans-serif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Services:</a:t>
            </a:r>
          </a:p>
          <a:p>
            <a:pPr>
              <a:lnSpc>
                <a:spcPct val="150000"/>
              </a:lnSpc>
            </a:pP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B96B1-7561-07F7-A12D-8864532EB1D9}"/>
              </a:ext>
            </a:extLst>
          </p:cNvPr>
          <p:cNvSpPr txBox="1"/>
          <p:nvPr/>
        </p:nvSpPr>
        <p:spPr>
          <a:xfrm>
            <a:off x="4736592" y="45262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9E4DB-5110-68B1-7A42-06FA432E3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67" y="4577113"/>
            <a:ext cx="3777725" cy="1575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6A6112-2F99-D375-4E30-40D30C3E63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957" y="4577113"/>
            <a:ext cx="5722466" cy="15368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E1D5DB-6BDF-AEDE-B1F5-9CDB97FDE6B1}"/>
              </a:ext>
            </a:extLst>
          </p:cNvPr>
          <p:cNvSpPr txBox="1"/>
          <p:nvPr/>
        </p:nvSpPr>
        <p:spPr>
          <a:xfrm>
            <a:off x="958867" y="4577113"/>
            <a:ext cx="1839197" cy="1457927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8FC04-7530-6657-50B8-B9B07FBDD5CB}"/>
              </a:ext>
            </a:extLst>
          </p:cNvPr>
          <p:cNvSpPr txBox="1"/>
          <p:nvPr/>
        </p:nvSpPr>
        <p:spPr>
          <a:xfrm>
            <a:off x="2924664" y="4577113"/>
            <a:ext cx="1719564" cy="1457927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505AEB-412C-BA17-0389-C5B87A6888C5}"/>
              </a:ext>
            </a:extLst>
          </p:cNvPr>
          <p:cNvSpPr txBox="1"/>
          <p:nvPr/>
        </p:nvSpPr>
        <p:spPr>
          <a:xfrm>
            <a:off x="4863191" y="4577113"/>
            <a:ext cx="1712597" cy="14579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C947E5-5FE1-8421-A1E5-15EA0C11D453}"/>
              </a:ext>
            </a:extLst>
          </p:cNvPr>
          <p:cNvSpPr txBox="1"/>
          <p:nvPr/>
        </p:nvSpPr>
        <p:spPr>
          <a:xfrm>
            <a:off x="6741943" y="4565315"/>
            <a:ext cx="1821662" cy="14579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899DA4-F3FC-3175-0E3C-B01969FB5176}"/>
              </a:ext>
            </a:extLst>
          </p:cNvPr>
          <p:cNvSpPr txBox="1"/>
          <p:nvPr/>
        </p:nvSpPr>
        <p:spPr>
          <a:xfrm>
            <a:off x="8729761" y="4555796"/>
            <a:ext cx="1821662" cy="1441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621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7F6263-C067-6F1E-C0E6-B3BF6DF116BE}"/>
              </a:ext>
            </a:extLst>
          </p:cNvPr>
          <p:cNvSpPr txBox="1"/>
          <p:nvPr/>
        </p:nvSpPr>
        <p:spPr>
          <a:xfrm>
            <a:off x="699796" y="1389888"/>
            <a:ext cx="1083284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Novelnest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A smart E-Book store portal”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Introduction:- 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rapidly evolving digital world, the way people read and access literature has undergone a significant transformation. Traditional bookstores and physical libraries are increasingly being supplemented—and in some cases, replaced—by digital platforms that offer greater convenience, accessibility, and personalization. In response to this shift, </a:t>
            </a:r>
            <a:r>
              <a:rPr lang="en-GB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Novelnest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Smart E-Book Store Portal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to cater to the modern reader’s needs through a powerful, intuitive, and interactive online environment.</a:t>
            </a:r>
          </a:p>
          <a:p>
            <a:pPr algn="just"/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Novelnest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than just an online bookstore—it is a comprehensive digital platform that enables users to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explore, purchase, and read e-books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ease and efficiency. </a:t>
            </a:r>
          </a:p>
          <a:p>
            <a:pPr algn="just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core of the platform lies a recommendation engine that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preferences to suggest relevant books, ensuring a tailored and engaging experience for each individual. Whether users are casual readers or avid book lovers,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Novelnest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them discover new content based on their tastes and interests.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FBDDD-C358-0505-5E74-BC81CDA2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E9E1A4-0D8D-2E7C-20AB-5152F6AB7ED3}"/>
              </a:ext>
            </a:extLst>
          </p:cNvPr>
          <p:cNvSpPr txBox="1"/>
          <p:nvPr/>
        </p:nvSpPr>
        <p:spPr>
          <a:xfrm>
            <a:off x="376210" y="1604492"/>
            <a:ext cx="11439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in Smart eBook Store Portal:-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8A4219-03C6-6991-A655-6143278F3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94" y="2489441"/>
            <a:ext cx="115048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Structures web content and supports multimedia with semantic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Styles pages using Flexbox/Grid for responsiveness and adds animations.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(ES6+)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Enables interactivity like form validation and dynamic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Security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Uses JWT/OAuth with HTTPS to protect user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Stores eBooks and user data securely on platforms like AWS or Firebase.</a:t>
            </a:r>
          </a:p>
        </p:txBody>
      </p:sp>
    </p:spTree>
    <p:extLst>
      <p:ext uri="{BB962C8B-B14F-4D97-AF65-F5344CB8AC3E}">
        <p14:creationId xmlns:p14="http://schemas.microsoft.com/office/powerpoint/2010/main" val="303022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0FA51-29AE-D78C-4B6C-D8F59821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CE3666-C89A-742A-3ECF-694368F31C03}"/>
              </a:ext>
            </a:extLst>
          </p:cNvPr>
          <p:cNvSpPr txBox="1"/>
          <p:nvPr/>
        </p:nvSpPr>
        <p:spPr>
          <a:xfrm>
            <a:off x="184560" y="1517344"/>
            <a:ext cx="582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8EAC2-D73F-9B6A-424B-CAC6CCD97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455" y="1467145"/>
            <a:ext cx="5383762" cy="468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0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FA512-5B5F-A665-84E0-3CA3E8EE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A360B-D1A9-E1BD-C3EF-F2C93E8DFB85}"/>
              </a:ext>
            </a:extLst>
          </p:cNvPr>
          <p:cNvSpPr txBox="1"/>
          <p:nvPr/>
        </p:nvSpPr>
        <p:spPr>
          <a:xfrm>
            <a:off x="156568" y="1433368"/>
            <a:ext cx="582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4E964-A4C5-1A6E-4FC5-17EB16D8C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98" y="1802700"/>
            <a:ext cx="5593702" cy="427891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6D69EB6-D5D8-754D-CC95-F307CDD32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448" y="2110778"/>
            <a:ext cx="547804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sends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requests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via HTTPS.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login/signup using JWT.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APIs retrieve/store data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ebooks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profiles, etc.) are displayed back to the user.</a:t>
            </a:r>
          </a:p>
        </p:txBody>
      </p:sp>
    </p:spTree>
    <p:extLst>
      <p:ext uri="{BB962C8B-B14F-4D97-AF65-F5344CB8AC3E}">
        <p14:creationId xmlns:p14="http://schemas.microsoft.com/office/powerpoint/2010/main" val="201796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39B3-6F60-7F54-E87F-FC41C2FC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89E040-8CE4-B558-2033-DD45F711921E}"/>
              </a:ext>
            </a:extLst>
          </p:cNvPr>
          <p:cNvSpPr txBox="1"/>
          <p:nvPr/>
        </p:nvSpPr>
        <p:spPr>
          <a:xfrm>
            <a:off x="6937310" y="1811060"/>
            <a:ext cx="467152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and Reviews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can rate and review e-books.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Wishlists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Favorites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Save books for future reading or buying.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Suggest books based on user interest.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Multi-format Support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Support for PDF, EPUB, MOBI,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Alerts for new arrivals, offers, and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Protection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DRM or watermarking to prevent piracy.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2000" dirty="0"/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25BD66-6F0A-A10F-EB51-02710B92D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36" y="1796291"/>
            <a:ext cx="596537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sign-up and authentication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E-Book Search and Filters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Search by title, author, genre,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Previews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Option to view sample pages before downloading or purchasing.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Download/Read Online Options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Download e-books or read them directly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 well on mobile, tablet, and desktop.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area to view downloads, purchases, and favorites.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31C05-3C61-2924-8345-63291B556F44}"/>
              </a:ext>
            </a:extLst>
          </p:cNvPr>
          <p:cNvSpPr txBox="1"/>
          <p:nvPr/>
        </p:nvSpPr>
        <p:spPr>
          <a:xfrm>
            <a:off x="223936" y="1464906"/>
            <a:ext cx="11744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Features of </a:t>
            </a:r>
            <a:r>
              <a:rPr lang="en-GB" sz="2000" b="1" dirty="0" err="1"/>
              <a:t>Novelnest</a:t>
            </a:r>
            <a:r>
              <a:rPr lang="en-GB" sz="2000" b="1" dirty="0"/>
              <a:t> :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68004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B8083-64F9-A293-297F-DD7701BF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5B555F-8C64-0A80-ABD0-328B82A42CFB}"/>
              </a:ext>
            </a:extLst>
          </p:cNvPr>
          <p:cNvSpPr txBox="1"/>
          <p:nvPr/>
        </p:nvSpPr>
        <p:spPr>
          <a:xfrm>
            <a:off x="201168" y="1527048"/>
            <a:ext cx="1134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of Portal :</a:t>
            </a:r>
          </a:p>
          <a:p>
            <a:pPr algn="just"/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EBF9B-E42F-7364-28E5-DE2993B74C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32" y="2111823"/>
            <a:ext cx="5367684" cy="30321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7FF74B-DD29-BFCB-4479-9AC0A18488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80" y="2093507"/>
            <a:ext cx="5896947" cy="30504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346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20A4-E7DE-F901-E79B-3F64C67A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3628B5-DFEE-A188-204E-F0E95F342D57}"/>
              </a:ext>
            </a:extLst>
          </p:cNvPr>
          <p:cNvSpPr txBox="1"/>
          <p:nvPr/>
        </p:nvSpPr>
        <p:spPr>
          <a:xfrm>
            <a:off x="310896" y="1389888"/>
            <a:ext cx="11347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sz="2000" dirty="0"/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8473C-A082-4E9E-1923-51B3197B7D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207" y="1971135"/>
            <a:ext cx="5673852" cy="30083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FEEE40-09E4-4073-D035-380A75DD3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60" y="1971135"/>
            <a:ext cx="5556613" cy="30083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390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81BE0-0189-7225-B09E-4618FE06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BCAF78-D7A8-B7BB-31F3-4737ACCCACA2}"/>
              </a:ext>
            </a:extLst>
          </p:cNvPr>
          <p:cNvSpPr txBox="1"/>
          <p:nvPr/>
        </p:nvSpPr>
        <p:spPr>
          <a:xfrm>
            <a:off x="310896" y="1389888"/>
            <a:ext cx="11347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sz="2000" dirty="0"/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88076-334E-7C57-7565-BF8FF990CF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5" y="1888412"/>
            <a:ext cx="5642303" cy="30811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F399EB-A9D4-B7C0-6D53-E3CB252496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591" y="1888412"/>
            <a:ext cx="5811255" cy="30811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9560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5C61-FABB-F6FF-66A5-6D9BE1FE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8808A9-B59D-2AA1-557E-D7FC6C55AFBC}"/>
              </a:ext>
            </a:extLst>
          </p:cNvPr>
          <p:cNvSpPr txBox="1"/>
          <p:nvPr/>
        </p:nvSpPr>
        <p:spPr>
          <a:xfrm>
            <a:off x="422148" y="1548508"/>
            <a:ext cx="1134770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None/>
            </a:pP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intuitive design makes it easy for users to browse, search, and read books.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books based on user interests, improving engagement and satisfaction.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Search &amp; Access: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search functionality allows users to find books quickly and efficiently.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Digital Library: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save their books and access them anytime, from any device.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Bookmarking &amp; Easy Navigation: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bookmark pages and resume reading from where they left off.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seamlessly on desktops, tablets, and mobile devices.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&amp; Eco-Friendly: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printing and distribution costs and supports environmental sustainability.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Accessibility: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are available 24/7 from anywhere with an internet connection.</a:t>
            </a:r>
          </a:p>
        </p:txBody>
      </p:sp>
    </p:spTree>
    <p:extLst>
      <p:ext uri="{BB962C8B-B14F-4D97-AF65-F5344CB8AC3E}">
        <p14:creationId xmlns:p14="http://schemas.microsoft.com/office/powerpoint/2010/main" val="197658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CC723-F714-872E-B4EF-9A8D246AC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6D16B3-9096-0A2A-93F4-44B68B7FD169}"/>
              </a:ext>
            </a:extLst>
          </p:cNvPr>
          <p:cNvSpPr txBox="1"/>
          <p:nvPr/>
        </p:nvSpPr>
        <p:spPr>
          <a:xfrm>
            <a:off x="422148" y="1483194"/>
            <a:ext cx="1134770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>
              <a:buNone/>
            </a:pP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&amp; User Accounts: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secure user authentication to allow personalized profiles, bookmarks, and reading history.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Integration: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purchase e-books through trusted payment options like UPI, cards, or wallets.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admin dashboard for managing book listings, categories, and user activity.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Recommendation System: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 or machine learning to recommend books based on user interests and reading patterns.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a mobile app version for Android and iOS to increase accessibility and convenience.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Audiobooks &amp; Multimedia Support: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audiobook functionality and support for multimedia e-books (with audio, video, or animation).</a:t>
            </a:r>
          </a:p>
          <a:p>
            <a:pPr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&amp; Offline Reading: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download books for offline reading without internet access.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48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53ED-0505-26FA-94D9-63E3E2E5E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E49FD7-EABE-94E0-27A5-A175AA37112B}"/>
              </a:ext>
            </a:extLst>
          </p:cNvPr>
          <p:cNvSpPr txBox="1"/>
          <p:nvPr/>
        </p:nvSpPr>
        <p:spPr>
          <a:xfrm>
            <a:off x="422148" y="1613823"/>
            <a:ext cx="113477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buNone/>
            </a:pP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Novelnest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demonstrates how modern web technologies can be leveraged to create a smart, user-friendly, and engaging e-book store portal. By offering features such as personalized book recommendations, instant search, one-click purchasing, and cloud-based library access, the platform addresses the evolving needs of today’s digital readers.</a:t>
            </a:r>
          </a:p>
          <a:p>
            <a:pPr algn="just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its responsive design and interactive functionalities,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Novelnest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the overall reading experience and encourages users to explore literature in a convenient and accessible way. The project not only showcases the technical skills involved in front-end web development using HTML, CSS, and JavaScript but also emphasizes user-centric design thinking.</a:t>
            </a:r>
          </a:p>
          <a:p>
            <a:pPr algn="just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lays the groundwork for future expansion and can be further developed into a full-fledged commercial application with backend integration, AI-driven recommendation systems, and payment gateways. Overall,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Novelnest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meaningful step toward digitizing reading habits and enriching the way people discover and engage with books.</a:t>
            </a:r>
          </a:p>
        </p:txBody>
      </p:sp>
    </p:spTree>
    <p:extLst>
      <p:ext uri="{BB962C8B-B14F-4D97-AF65-F5344CB8AC3E}">
        <p14:creationId xmlns:p14="http://schemas.microsoft.com/office/powerpoint/2010/main" val="2498848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CDFCF1-8122-EB0E-5A38-995BE5A9FF65}"/>
              </a:ext>
            </a:extLst>
          </p:cNvPr>
          <p:cNvSpPr txBox="1"/>
          <p:nvPr/>
        </p:nvSpPr>
        <p:spPr>
          <a:xfrm>
            <a:off x="4672584" y="2916936"/>
            <a:ext cx="5827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10988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1040</Words>
  <Application>Microsoft Office PowerPoint</Application>
  <PresentationFormat>Widescreen</PresentationFormat>
  <Paragraphs>125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Red Hat Display</vt:lpstr>
      <vt:lpstr>Times New Roman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admin123</dc:creator>
  <cp:lastModifiedBy>Saikiran Gannewar</cp:lastModifiedBy>
  <cp:revision>65</cp:revision>
  <dcterms:created xsi:type="dcterms:W3CDTF">2024-05-04T10:35:05Z</dcterms:created>
  <dcterms:modified xsi:type="dcterms:W3CDTF">2025-05-30T21:09:23Z</dcterms:modified>
</cp:coreProperties>
</file>